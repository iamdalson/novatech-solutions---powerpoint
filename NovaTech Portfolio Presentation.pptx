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5" r:id="rId2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Client Activation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ED8-42CC-AE65-F26319342B92}"/>
              </c:ext>
            </c:extLst>
          </c:dPt>
          <c:dPt>
            <c:idx val="1"/>
            <c:bubble3D val="0"/>
            <c:spPr>
              <a:solidFill>
                <a:srgbClr val="E800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ED8-42CC-AE65-F26319342B9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ED8-42CC-AE65-F26319342B9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ED8-42CC-AE65-F26319342B9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Activated (£3.54M)</c:v>
                </c:pt>
                <c:pt idx="1">
                  <c:v>Pending (£660K)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84.3</c:v>
                </c:pt>
                <c:pt idx="1">
                  <c:v>15.7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D8-42CC-AE65-F26319342B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C8C8C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FFFFFF"/>
                </a:solidFill>
                <a:latin typeface="Arial"/>
              </a:rPr>
              <a:t>Revenue by Region (£M)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8001C"/>
            </a:solidFill>
            <a:effectLst/>
          </c:spPr>
          <c:invertIfNegative val="0"/>
          <c:dLbls>
            <c:numFmt formatCode="0.0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London</c:v>
                </c:pt>
                <c:pt idx="1">
                  <c:v>Manchester</c:v>
                </c:pt>
                <c:pt idx="2">
                  <c:v>Birmingham</c:v>
                </c:pt>
                <c:pt idx="3">
                  <c:v>Leeds</c:v>
                </c:pt>
                <c:pt idx="4">
                  <c:v>Glasgow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1.76</c:v>
                </c:pt>
                <c:pt idx="1">
                  <c:v>1.18</c:v>
                </c:pt>
                <c:pt idx="2">
                  <c:v>0.76</c:v>
                </c:pt>
                <c:pt idx="3">
                  <c:v>0.34</c:v>
                </c:pt>
                <c:pt idx="4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86-4E16-BFC7-0553FD0BEE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8C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8C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FFFFFF"/>
                </a:solidFill>
                <a:latin typeface="Arial"/>
              </a:rPr>
              <a:t>Revenue by Region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£M</c:v>
                </c:pt>
              </c:strCache>
            </c:strRef>
          </c:tx>
          <c:spPr>
            <a:solidFill>
              <a:srgbClr val="E8001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00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0E1-4F05-AF25-A297FEEE87A7}"/>
              </c:ext>
            </c:extLst>
          </c:dPt>
          <c:dPt>
            <c:idx val="1"/>
            <c:invertIfNegative val="0"/>
            <c:bubble3D val="0"/>
            <c:spPr>
              <a:solidFill>
                <a:srgbClr val="E800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0E1-4F05-AF25-A297FEEE87A7}"/>
              </c:ext>
            </c:extLst>
          </c:dPt>
          <c:dPt>
            <c:idx val="2"/>
            <c:invertIfNegative val="0"/>
            <c:bubble3D val="0"/>
            <c:spPr>
              <a:solidFill>
                <a:srgbClr val="C45A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0E1-4F05-AF25-A297FEEE87A7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0E1-4F05-AF25-A297FEEE87A7}"/>
              </c:ext>
            </c:extLst>
          </c:dPt>
          <c:dPt>
            <c:idx val="4"/>
            <c:invertIfNegative val="0"/>
            <c:bubble3D val="0"/>
            <c:spPr>
              <a:solidFill>
                <a:srgbClr val="6666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0E1-4F05-AF25-A297FEEE87A7}"/>
              </c:ext>
            </c:extLst>
          </c:dPt>
          <c:dLbls>
            <c:numFmt formatCode="0.0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London</c:v>
                </c:pt>
                <c:pt idx="1">
                  <c:v>Manchester</c:v>
                </c:pt>
                <c:pt idx="2">
                  <c:v>Birmingham</c:v>
                </c:pt>
                <c:pt idx="3">
                  <c:v>Leeds</c:v>
                </c:pt>
                <c:pt idx="4">
                  <c:v>Glasgow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1.76</c:v>
                </c:pt>
                <c:pt idx="1">
                  <c:v>1.18</c:v>
                </c:pt>
                <c:pt idx="2">
                  <c:v>0.76</c:v>
                </c:pt>
                <c:pt idx="3">
                  <c:v>0.34</c:v>
                </c:pt>
                <c:pt idx="4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0E1-4F05-AF25-A297FEEE87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8C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8C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Monthly Revenue Trend by Region (£M)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London</c:v>
                </c:pt>
              </c:strCache>
            </c:strRef>
          </c:tx>
          <c:spPr>
            <a:ln w="31750" cap="flat">
              <a:solidFill>
                <a:srgbClr val="00B050">
                  <a:alpha val="99000"/>
                </a:srgbClr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050"/>
              </a:solidFill>
              <a:ln w="9525" cap="flat">
                <a:noFill/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0.52</c:v>
                </c:pt>
                <c:pt idx="1">
                  <c:v>0.57999999999999996</c:v>
                </c:pt>
                <c:pt idx="2">
                  <c:v>0.66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F78-4DA2-A017-71671D4397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Manchester</c:v>
                </c:pt>
              </c:strCache>
            </c:strRef>
          </c:tx>
          <c:spPr>
            <a:ln w="31750" cap="flat">
              <a:solidFill>
                <a:srgbClr val="92D05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2D050"/>
              </a:solidFill>
              <a:ln w="9525" cap="flat">
                <a:noFill/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0.36</c:v>
                </c:pt>
                <c:pt idx="1">
                  <c:v>0.4</c:v>
                </c:pt>
                <c:pt idx="2">
                  <c:v>0.42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F78-4DA2-A017-71671D4397E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Birmingham</c:v>
                </c:pt>
              </c:strCache>
            </c:strRef>
          </c:tx>
          <c:spPr>
            <a:ln w="31750" cap="flat">
              <a:solidFill>
                <a:schemeClr val="bg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9525" cap="flat">
                <a:noFill/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0.19</c:v>
                </c:pt>
                <c:pt idx="1">
                  <c:v>0.26</c:v>
                </c:pt>
                <c:pt idx="2">
                  <c:v>0.31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F78-4DA2-A017-71671D4397E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Leeds</c:v>
                </c:pt>
              </c:strCache>
            </c:strRef>
          </c:tx>
          <c:spPr>
            <a:ln w="31750" cap="flat">
              <a:solidFill>
                <a:srgbClr val="FF0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0000"/>
              </a:solidFill>
              <a:ln w="9525" cap="flat">
                <a:noFill/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0.11</c:v>
                </c:pt>
                <c:pt idx="1">
                  <c:v>0.12</c:v>
                </c:pt>
                <c:pt idx="2">
                  <c:v>0.11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8F78-4DA2-A017-71671D4397E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Glasgow</c:v>
                </c:pt>
              </c:strCache>
            </c:strRef>
          </c:tx>
          <c:spPr>
            <a:ln w="31750" cap="flat">
              <a:solidFill>
                <a:srgbClr val="66666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66666"/>
              </a:solidFill>
              <a:ln w="9525" cap="flat">
                <a:solidFill>
                  <a:srgbClr val="666666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0.06</c:v>
                </c:pt>
                <c:pt idx="1">
                  <c:v>0.05</c:v>
                </c:pt>
                <c:pt idx="2">
                  <c:v>0.06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8F78-4DA2-A017-71671D4397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8C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8C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C8C8C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Target vs Actual Revenue (£ Millions)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(£M)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0.0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Q1 Total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1.25</c:v>
                </c:pt>
                <c:pt idx="1">
                  <c:v>1.3</c:v>
                </c:pt>
                <c:pt idx="2">
                  <c:v>1.35</c:v>
                </c:pt>
                <c:pt idx="3">
                  <c:v>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53-44DE-89F6-73C4237EDC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(£M)</c:v>
                </c:pt>
              </c:strCache>
            </c:strRef>
          </c:tx>
          <c:spPr>
            <a:solidFill>
              <a:srgbClr val="E8001C"/>
            </a:solidFill>
            <a:effectLst/>
          </c:spPr>
          <c:invertIfNegative val="0"/>
          <c:dLbls>
            <c:numFmt formatCode="0.0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Q1 Total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1.17</c:v>
                </c:pt>
                <c:pt idx="1">
                  <c:v>1.61</c:v>
                </c:pt>
                <c:pt idx="2">
                  <c:v>1.41</c:v>
                </c:pt>
                <c:pt idx="3">
                  <c:v>4.21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53-44DE-89F6-73C4237EDC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8C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8C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C8C8C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Top 8 Products – Monthly Units (Jan / Feb / Mar)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Jan</c:v>
                </c:pt>
              </c:strCache>
            </c:strRef>
          </c:tx>
          <c:spPr>
            <a:solidFill>
              <a:srgbClr val="3A3A3A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SmartHub Pro X</c:v>
                </c:pt>
                <c:pt idx="1">
                  <c:v>EcoPanel 5K</c:v>
                </c:pt>
                <c:pt idx="2">
                  <c:v>SolarLink 10K</c:v>
                </c:pt>
                <c:pt idx="3">
                  <c:v>HomeSense 3K</c:v>
                </c:pt>
                <c:pt idx="4">
                  <c:v>ConnectGrid 7K</c:v>
                </c:pt>
                <c:pt idx="5">
                  <c:v>SmartHub Lite</c:v>
                </c:pt>
                <c:pt idx="6">
                  <c:v>EcoPanel 2.5K</c:v>
                </c:pt>
                <c:pt idx="7">
                  <c:v>SolarLink 6K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142</c:v>
                </c:pt>
                <c:pt idx="1">
                  <c:v>118</c:v>
                </c:pt>
                <c:pt idx="2">
                  <c:v>95</c:v>
                </c:pt>
                <c:pt idx="3">
                  <c:v>82</c:v>
                </c:pt>
                <c:pt idx="4">
                  <c:v>76</c:v>
                </c:pt>
                <c:pt idx="5">
                  <c:v>68</c:v>
                </c:pt>
                <c:pt idx="6">
                  <c:v>55</c:v>
                </c:pt>
                <c:pt idx="7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5B-44EA-AC4B-5C1D33D7F8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Feb</c:v>
                </c:pt>
              </c:strCache>
            </c:strRef>
          </c:tx>
          <c:spPr>
            <a:solidFill>
              <a:srgbClr val="7A0010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SmartHub Pro X</c:v>
                </c:pt>
                <c:pt idx="1">
                  <c:v>EcoPanel 5K</c:v>
                </c:pt>
                <c:pt idx="2">
                  <c:v>SolarLink 10K</c:v>
                </c:pt>
                <c:pt idx="3">
                  <c:v>HomeSense 3K</c:v>
                </c:pt>
                <c:pt idx="4">
                  <c:v>ConnectGrid 7K</c:v>
                </c:pt>
                <c:pt idx="5">
                  <c:v>SmartHub Lite</c:v>
                </c:pt>
                <c:pt idx="6">
                  <c:v>EcoPanel 2.5K</c:v>
                </c:pt>
                <c:pt idx="7">
                  <c:v>SolarLink 6K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185</c:v>
                </c:pt>
                <c:pt idx="1">
                  <c:v>130</c:v>
                </c:pt>
                <c:pt idx="2">
                  <c:v>108</c:v>
                </c:pt>
                <c:pt idx="3">
                  <c:v>95</c:v>
                </c:pt>
                <c:pt idx="4">
                  <c:v>88</c:v>
                </c:pt>
                <c:pt idx="5">
                  <c:v>72</c:v>
                </c:pt>
                <c:pt idx="6">
                  <c:v>68</c:v>
                </c:pt>
                <c:pt idx="7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5B-44EA-AC4B-5C1D33D7F8A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</c:v>
                </c:pt>
              </c:strCache>
            </c:strRef>
          </c:tx>
          <c:spPr>
            <a:solidFill>
              <a:srgbClr val="E8001C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SmartHub Pro X</c:v>
                </c:pt>
                <c:pt idx="1">
                  <c:v>EcoPanel 5K</c:v>
                </c:pt>
                <c:pt idx="2">
                  <c:v>SolarLink 10K</c:v>
                </c:pt>
                <c:pt idx="3">
                  <c:v>HomeSense 3K</c:v>
                </c:pt>
                <c:pt idx="4">
                  <c:v>ConnectGrid 7K</c:v>
                </c:pt>
                <c:pt idx="5">
                  <c:v>SmartHub Lite</c:v>
                </c:pt>
                <c:pt idx="6">
                  <c:v>EcoPanel 2.5K</c:v>
                </c:pt>
                <c:pt idx="7">
                  <c:v>SolarLink 6K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210</c:v>
                </c:pt>
                <c:pt idx="1">
                  <c:v>155</c:v>
                </c:pt>
                <c:pt idx="2">
                  <c:v>142</c:v>
                </c:pt>
                <c:pt idx="3">
                  <c:v>110</c:v>
                </c:pt>
                <c:pt idx="4">
                  <c:v>104</c:v>
                </c:pt>
                <c:pt idx="5">
                  <c:v>85</c:v>
                </c:pt>
                <c:pt idx="6">
                  <c:v>78</c:v>
                </c:pt>
                <c:pt idx="7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E5B-44EA-AC4B-5C1D33D7F8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C8C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8C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C8C8C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Lead Distribution by Region (1,428 Total Leads)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Leads</c:v>
                </c:pt>
              </c:strCache>
            </c:strRef>
          </c:tx>
          <c:spPr>
            <a:solidFill>
              <a:srgbClr val="E8001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London</c:v>
                </c:pt>
                <c:pt idx="1">
                  <c:v>Manchester</c:v>
                </c:pt>
                <c:pt idx="2">
                  <c:v>Birmingham</c:v>
                </c:pt>
                <c:pt idx="3">
                  <c:v>Leeds</c:v>
                </c:pt>
                <c:pt idx="4">
                  <c:v>Glasgow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512</c:v>
                </c:pt>
                <c:pt idx="1">
                  <c:v>388</c:v>
                </c:pt>
                <c:pt idx="2">
                  <c:v>274</c:v>
                </c:pt>
                <c:pt idx="3">
                  <c:v>156</c:v>
                </c:pt>
                <c:pt idx="4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DA-461E-A984-6754391040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8C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8C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7218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53831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17701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158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5086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396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3132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91140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59899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18689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9371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20450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502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507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5669280" y="0"/>
            <a:ext cx="3474720" cy="4828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0" y="0"/>
            <a:ext cx="36576" cy="4828032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8404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OPERATIONS DIVISION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 BUSINESS</a:t>
            </a:r>
            <a:endParaRPr lang="en-US" sz="44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74320" y="230428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80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Q2 STRATEGY BRIEFING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74320" y="3017520"/>
            <a:ext cx="3657600" cy="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1089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– March 2024  |  Confidential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52160" y="502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52160" y="914400"/>
            <a:ext cx="3127248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914400"/>
            <a:ext cx="36576" cy="50292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1888" y="987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Last Quarter's Business Review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1536192"/>
            <a:ext cx="3127248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1536192"/>
            <a:ext cx="36576" cy="50292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16093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New Quarter Targets &amp; Strategy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52160" y="2157984"/>
            <a:ext cx="3127248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0" y="2157984"/>
            <a:ext cx="36576" cy="50292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61888" y="2231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Strategy Execution Plan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52160" y="2779776"/>
            <a:ext cx="3127248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2779776"/>
            <a:ext cx="36576" cy="50292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61888" y="2852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Challenges, Support &amp; Suggestions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5216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NovaTech Solutions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52160" y="38587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&amp; IoT Systems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0" y="41330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Business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320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E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Last Quarter's Business Review (Q1 2024)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2423160"/>
            <a:ext cx="85039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54203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review of Q1 performance, regional results, product trends,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operational highlights across all territories.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LAST QUARTER'S BUSINESS REVIEW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82880" y="228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53035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2024  |  Total Performance Snapshot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2011680" cy="1051560"/>
          </a:xfrm>
          <a:prstGeom prst="rect">
            <a:avLst/>
          </a:prstGeom>
          <a:solidFill>
            <a:srgbClr val="1A1A1A"/>
          </a:solidFill>
          <a:ln w="15240">
            <a:solidFill>
              <a:srgbClr val="E800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804672"/>
            <a:ext cx="2011680" cy="36576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896112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£4.2M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0896" y="138988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10896" y="159105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Actual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22576" y="804672"/>
            <a:ext cx="2011680" cy="1051560"/>
          </a:xfrm>
          <a:prstGeom prst="rect">
            <a:avLst/>
          </a:prstGeom>
          <a:solidFill>
            <a:srgbClr val="1A1A1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22576" y="804672"/>
            <a:ext cx="20116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896112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108%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50592" y="138988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VS TARGET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450592" y="159105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£3.9M target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62272" y="804672"/>
            <a:ext cx="2011680" cy="1051560"/>
          </a:xfrm>
          <a:prstGeom prst="rect">
            <a:avLst/>
          </a:prstGeom>
          <a:solidFill>
            <a:srgbClr val="1A1A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62272" y="804672"/>
            <a:ext cx="20116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896112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1,847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90288" y="138988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DEPLOYED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90288" y="159105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regions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01968" y="804672"/>
            <a:ext cx="2359152" cy="1051560"/>
          </a:xfrm>
          <a:prstGeom prst="rect">
            <a:avLst/>
          </a:prstGeom>
          <a:solidFill>
            <a:srgbClr val="1A1A1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1968" y="804672"/>
            <a:ext cx="2359152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9984" y="8961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84.3%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29984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ACTIVATION RATE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729984" y="15910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£3.54M activated</a:t>
            </a:r>
            <a:endParaRPr lang="en-US" sz="8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182880" y="1993392"/>
          <a:ext cx="34747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Chart 1"/>
          <p:cNvGraphicFramePr/>
          <p:nvPr/>
        </p:nvGraphicFramePr>
        <p:xfrm>
          <a:off x="3822192" y="1993392"/>
          <a:ext cx="521208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Shape 25"/>
          <p:cNvSpPr/>
          <p:nvPr/>
        </p:nvSpPr>
        <p:spPr>
          <a:xfrm>
            <a:off x="109728" y="4626864"/>
            <a:ext cx="8924544" cy="402336"/>
          </a:xfrm>
          <a:prstGeom prst="rect">
            <a:avLst/>
          </a:prstGeom>
          <a:solidFill>
            <a:srgbClr val="1A0205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37744" y="46360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exceeded target by £310K (+7.9%). London leads with £1.76M (41.9% share). With 15.7% of clients still inactive, reactivation is the single fastest growth lever for Q2.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LAST QUARTER'S BUSINESS REVIEW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82880" y="228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REGIONAL PERFORMANCE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53035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2024  |  Revenue Contribution &amp; Territory Breakdown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564824075"/>
              </p:ext>
            </p:extLst>
          </p:nvPr>
        </p:nvGraphicFramePr>
        <p:xfrm>
          <a:off x="182880" y="804672"/>
          <a:ext cx="4485785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883568"/>
              </p:ext>
            </p:extLst>
          </p:nvPr>
        </p:nvGraphicFramePr>
        <p:xfrm>
          <a:off x="4879361" y="832102"/>
          <a:ext cx="4173200" cy="3630168"/>
        </p:xfrm>
        <a:graphic>
          <a:graphicData uri="http://schemas.openxmlformats.org/drawingml/2006/table">
            <a:tbl>
              <a:tblPr/>
              <a:tblGrid>
                <a:gridCol w="946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0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0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0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Q4 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0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London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£1.76M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Manchester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£1.18M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Birmingham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£0.76M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£0.34M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Glasgow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£0.17M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0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109728" y="4626864"/>
            <a:ext cx="8924544" cy="402336"/>
          </a:xfrm>
          <a:prstGeom prst="rect">
            <a:avLst/>
          </a:prstGeom>
          <a:solidFill>
            <a:srgbClr val="1A0205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237744" y="46360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regions (London + Manchester) contribute 70% of Q1 revenue. Birmingham's 34% growth rate signals it is becoming the key expansion territory for Q2.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LAST QUARTER'S BUSINESS REVIEW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82880" y="228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 PERFORMANCE TRENDS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53035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Monthly Performance  |  Jan–Mar 2024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709496879"/>
              </p:ext>
            </p:extLst>
          </p:nvPr>
        </p:nvGraphicFramePr>
        <p:xfrm>
          <a:off x="182880" y="804672"/>
          <a:ext cx="5486400" cy="3493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833872" y="8412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→ MAR MOVEMENT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833872" y="1152144"/>
            <a:ext cx="320040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61888" y="1216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London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33488" y="120700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+26.9%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33872" y="1655064"/>
            <a:ext cx="320040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61888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Manchester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33488" y="17099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+16.7%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833872" y="2157984"/>
            <a:ext cx="320040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2221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Birmingham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33488" y="22128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+63.2%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833872" y="2660904"/>
            <a:ext cx="320040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61888" y="2724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Leeds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333488" y="27157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0.0%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833872" y="3163824"/>
            <a:ext cx="320040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61888" y="3227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Glasgow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333488" y="32186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0.0%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09728" y="4626864"/>
            <a:ext cx="8924544" cy="402336"/>
          </a:xfrm>
          <a:prstGeom prst="rect">
            <a:avLst/>
          </a:prstGeom>
          <a:solidFill>
            <a:srgbClr val="1A0205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37744" y="46360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was the strongest month across all growth territories. Birmingham's 63.2% Jan→Mar surge makes it the standout performer and the priority region for Q2 investment.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LAST QUARTER'S BUSINESS REVIEW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82880" y="228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TARGET VS ACTUAL PERFORMANCE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53035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2024  |  Monthly &amp; Cumulative Gap Analysis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951035568"/>
              </p:ext>
            </p:extLst>
          </p:nvPr>
        </p:nvGraphicFramePr>
        <p:xfrm>
          <a:off x="182880" y="804672"/>
          <a:ext cx="5394960" cy="3456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742432" y="804672"/>
            <a:ext cx="3291840" cy="768096"/>
          </a:xfrm>
          <a:prstGeom prst="rect">
            <a:avLst/>
          </a:prstGeom>
          <a:solidFill>
            <a:srgbClr val="1A1A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70448" y="8595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205472" y="82296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93.2%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870448" y="13167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−£26K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742432" y="1700784"/>
            <a:ext cx="3291840" cy="768096"/>
          </a:xfrm>
          <a:prstGeom prst="rect">
            <a:avLst/>
          </a:prstGeom>
          <a:solidFill>
            <a:srgbClr val="1A1A1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70448" y="1755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205472" y="1719072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124.5%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870448" y="22128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+£98K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742432" y="2596896"/>
            <a:ext cx="3291840" cy="768096"/>
          </a:xfrm>
          <a:prstGeom prst="rect">
            <a:avLst/>
          </a:prstGeom>
          <a:solidFill>
            <a:srgbClr val="1A1A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70448" y="2651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205472" y="2615184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97.8%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870448" y="31089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−£27K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742432" y="3493008"/>
            <a:ext cx="3291840" cy="768096"/>
          </a:xfrm>
          <a:prstGeom prst="rect">
            <a:avLst/>
          </a:prstGeom>
          <a:solidFill>
            <a:srgbClr val="1A1A1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70448" y="3547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Total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205472" y="3511296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108.0%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5870448" y="40050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+£310K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09728" y="4626864"/>
            <a:ext cx="8924544" cy="402336"/>
          </a:xfrm>
          <a:prstGeom prst="rect">
            <a:avLst/>
          </a:prstGeom>
          <a:solidFill>
            <a:srgbClr val="1A0205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37744" y="46360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closed £310K above target. February's exceptional 124.5% delivery offset January and March shortfalls. The quarter ended strongly — building confidence for a bold Q2 target.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LAST QUARTER'S BUSINESS REVIEW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82880" y="228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PERFORMANCE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53035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SKUs by Volume  |  Monthly Trends  |  Q1 2024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182880" y="804672"/>
          <a:ext cx="53949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742432" y="804672"/>
            <a:ext cx="3291840" cy="1051560"/>
          </a:xfrm>
          <a:prstGeom prst="rect">
            <a:avLst/>
          </a:prstGeom>
          <a:solidFill>
            <a:srgbClr val="1A1A1A"/>
          </a:solidFill>
          <a:ln w="19050">
            <a:solidFill>
              <a:srgbClr val="E800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42432" y="804672"/>
            <a:ext cx="36576" cy="105156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0" y="87782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0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46520" y="8778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SmartHub Pro X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52160" y="1307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537 units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52160" y="1536192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product — +47.9% Jan→Mar. Q2 target: 750 units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742432" y="1975104"/>
            <a:ext cx="3291840" cy="1051560"/>
          </a:xfrm>
          <a:prstGeom prst="rect">
            <a:avLst/>
          </a:prstGeom>
          <a:solidFill>
            <a:srgbClr val="1A1A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42432" y="1975104"/>
            <a:ext cx="36576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048256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446520" y="20482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EcoPanel 5K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52160" y="24780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units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52160" y="2706624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cross-region demand. Q2 target: 560 units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742432" y="3145536"/>
            <a:ext cx="3291840" cy="1051560"/>
          </a:xfrm>
          <a:prstGeom prst="rect">
            <a:avLst/>
          </a:prstGeom>
          <a:solidFill>
            <a:srgbClr val="1A1A1A"/>
          </a:solidFill>
          <a:ln w="19050">
            <a:solidFill>
              <a:srgbClr val="C8C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42432" y="3145536"/>
            <a:ext cx="36576" cy="1051560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2160" y="321868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C8C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#3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446520" y="32186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SolarLink 10K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852160" y="36484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345 units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852160" y="3877056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+49.5% Jan→Mar. Fastest growing SKU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09728" y="4626864"/>
            <a:ext cx="8924544" cy="402336"/>
          </a:xfrm>
          <a:prstGeom prst="rect">
            <a:avLst/>
          </a:prstGeom>
          <a:solidFill>
            <a:srgbClr val="1A0205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37744" y="46360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SmartHub Pro X is Q1's standout product with 537 units and accelerating momentum. Aligning Q2 stock and training to the top 3 SKUs will drive 70%+ of revenue target.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LAST QUARTER'S BUSINESS REVIEW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82880" y="228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OPERATIONS &amp; MARKET INTELLIGENCE SUMMARY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53035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Distribution · Surveys · Competitor Analysis · Marketing  |  Q1 2024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182880" y="804672"/>
          <a:ext cx="44348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804672"/>
            <a:ext cx="4279392" cy="2331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82896" y="8961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 Follow-Up &amp; Marketing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82896" y="1207008"/>
            <a:ext cx="40233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82896" y="1481328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133502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regions responsive — avg response under 6 hours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882896" y="1920240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1773936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Leeds — needs improvement on lead conversion speed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882896" y="2359152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0" y="2212848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Glasgow — pipeline thin; needs territory development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82896" y="2670048"/>
            <a:ext cx="40233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82896" y="27249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Marketing: Jan: 2 videos + 2 e-flyers  |  Feb: 1 video + 2 e-flyers  |  Mar: 1 e-flyer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with marketing strong — consistent digital content and social media amplification.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82880" y="3291840"/>
            <a:ext cx="2103120" cy="1207008"/>
          </a:xfrm>
          <a:prstGeom prst="rect">
            <a:avLst/>
          </a:prstGeom>
          <a:solidFill>
            <a:srgbClr val="1A1A1A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2880" y="3291840"/>
            <a:ext cx="2103120" cy="36576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33649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Jan: SmartHub Pro X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 Survey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74320" y="371246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89.3% positive market reception among channel partners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423160" y="3291840"/>
            <a:ext cx="2103120" cy="1207008"/>
          </a:xfrm>
          <a:prstGeom prst="rect">
            <a:avLst/>
          </a:prstGeom>
          <a:solidFill>
            <a:srgbClr val="1A1A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423160" y="3291840"/>
            <a:ext cx="21031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14600" y="33649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Feb: Channel Market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Competitor Survey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514600" y="371246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&amp; shared via weekly report and team chat. Low itel visibility in 2 territories; competitors running aggressive promos.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4663440" y="3291840"/>
            <a:ext cx="2103120" cy="1207008"/>
          </a:xfrm>
          <a:prstGeom prst="rect">
            <a:avLst/>
          </a:prstGeom>
          <a:solidFill>
            <a:srgbClr val="1A1A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63440" y="3291840"/>
            <a:ext cx="21031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33649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Mar: Commission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Policy Survey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754880" y="371246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prefer per-product commission model vs target-based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6903720" y="3291840"/>
            <a:ext cx="2103120" cy="1207008"/>
          </a:xfrm>
          <a:prstGeom prst="rect">
            <a:avLst/>
          </a:prstGeom>
          <a:solidFill>
            <a:srgbClr val="1A1A1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03720" y="3291840"/>
            <a:ext cx="21031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95160" y="33649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Competitor Price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995160" y="371246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Q1. To run monthly in Q2. Shared via weekly report.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109728" y="4626864"/>
            <a:ext cx="8924544" cy="402336"/>
          </a:xfrm>
          <a:prstGeom prst="rect">
            <a:avLst/>
          </a:prstGeom>
          <a:solidFill>
            <a:srgbClr val="1A0205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37744" y="46360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1,428 valid leads distributed in Q1. Competitor price analysis completed and shared — will run monthly in Q2. Channel survey confirmed low brand visibility in 2 territories vs competitors.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320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E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Quarter Business Targets &amp; Strategy (Q2 2024)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2423160"/>
            <a:ext cx="85039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54203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ambitious targets, aligning the team, and activating the right levers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stronger, higher-converting Q2 across all territories.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NEW QUARTER TARGETS &amp; STRATEGY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82880" y="228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 2024 BUSINESS TARGETS &amp; SALES FORECAST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53035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June  |  Revenue, Units &amp; Growth Targets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2834640" cy="1005840"/>
          </a:xfrm>
          <a:prstGeom prst="rect">
            <a:avLst/>
          </a:prstGeom>
          <a:solidFill>
            <a:srgbClr val="1A1A1A"/>
          </a:solidFill>
          <a:ln w="15240">
            <a:solidFill>
              <a:srgbClr val="E800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804672"/>
            <a:ext cx="2834640" cy="36576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896112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£5.8M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0896" y="138988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REVENUE FORECAST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10896" y="1591056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above Q1 actuals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45536" y="804672"/>
            <a:ext cx="2834640" cy="1005840"/>
          </a:xfrm>
          <a:prstGeom prst="rect">
            <a:avLst/>
          </a:prstGeom>
          <a:solidFill>
            <a:srgbClr val="1A1A1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45536" y="804672"/>
            <a:ext cx="283464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896112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73552" y="138988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ACTIVATION TARGET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73552" y="1591056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84.3% in Q1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08192" y="804672"/>
            <a:ext cx="2926080" cy="1005840"/>
          </a:xfrm>
          <a:prstGeom prst="rect">
            <a:avLst/>
          </a:prstGeom>
          <a:solidFill>
            <a:srgbClr val="1A1A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08192" y="804672"/>
            <a:ext cx="29260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896112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2,400+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36208" y="1389888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TARGET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36208" y="1591056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 combined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660311"/>
              </p:ext>
            </p:extLst>
          </p:nvPr>
        </p:nvGraphicFramePr>
        <p:xfrm>
          <a:off x="182880" y="1965960"/>
          <a:ext cx="8869680" cy="252374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2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6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4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Price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Units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Revenue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SmartHub Pro 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£290,250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EcoPanel 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£165,200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SolarLink 10K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£245,760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HomeSense 3K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£91,560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ConnectGrid 7K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£129,960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SmartHub Lite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£52,200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EcoPanel 2.5K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£54,560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SolarLink 6K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8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£83,440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109728" y="4626864"/>
            <a:ext cx="8924544" cy="402336"/>
          </a:xfrm>
          <a:prstGeom prst="rect">
            <a:avLst/>
          </a:prstGeom>
          <a:solidFill>
            <a:srgbClr val="1A0205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37744" y="46360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forecast of £5.8M represents a 38% increase over Q1. SmartHub Pro X (750 units) and SolarLink 10K (480 units) lead the revenue push. Stock alignment and training are non-negotiable.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NEW QUARTER TARGETS &amp; STRATEGY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82880" y="228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COMMISSION POLICY — EFFECTIVE Q2 2024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53035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Per-Product Model  |  Earn More by Deploying More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8869680" cy="329184"/>
          </a:xfrm>
          <a:prstGeom prst="rect">
            <a:avLst/>
          </a:prstGeom>
          <a:solidFill>
            <a:srgbClr val="0A102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22960"/>
            <a:ext cx="8650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Q2 2024, field engineers earn a fixed commission for every qualifying product deployed — replacing the previous target-based model preferred by only 26% of the team.</a:t>
            </a:r>
            <a:endParaRPr lang="en-US" sz="950" dirty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DA2B098-C20F-4A63-BF59-77428BE6ACB2}"/>
              </a:ext>
            </a:extLst>
          </p:cNvPr>
          <p:cNvGrpSpPr/>
          <p:nvPr/>
        </p:nvGrpSpPr>
        <p:grpSpPr>
          <a:xfrm>
            <a:off x="182880" y="1261872"/>
            <a:ext cx="4296912" cy="941832"/>
            <a:chOff x="182880" y="1261872"/>
            <a:chExt cx="2788920" cy="1078992"/>
          </a:xfrm>
        </p:grpSpPr>
        <p:sp>
          <p:nvSpPr>
            <p:cNvPr id="9" name="Shape 7"/>
            <p:cNvSpPr/>
            <p:nvPr/>
          </p:nvSpPr>
          <p:spPr>
            <a:xfrm>
              <a:off x="182880" y="1261872"/>
              <a:ext cx="2788920" cy="1078992"/>
            </a:xfrm>
            <a:prstGeom prst="rect">
              <a:avLst/>
            </a:prstGeom>
            <a:solidFill>
              <a:srgbClr val="1A1A1A"/>
            </a:solidFill>
            <a:ln w="15240">
              <a:solidFill>
                <a:srgbClr val="E8001C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182880" y="1261872"/>
              <a:ext cx="2788920" cy="36576"/>
            </a:xfrm>
            <a:prstGeom prst="rect">
              <a:avLst/>
            </a:prstGeom>
            <a:solidFill>
              <a:srgbClr val="E8001C"/>
            </a:solidFill>
            <a:ln w="12700">
              <a:solidFill>
                <a:srgbClr val="E8001C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292608" y="1335024"/>
              <a:ext cx="2569464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E8001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Enterprise Systems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92608" y="1645920"/>
              <a:ext cx="213055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SmartHub Enterprise</a:t>
              </a:r>
              <a:endParaRPr lang="en-US" sz="8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159944" y="1673252"/>
              <a:ext cx="411480" cy="152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E800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£120</a:t>
              </a:r>
              <a:endParaRPr lang="en-US" sz="8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92608" y="1975104"/>
              <a:ext cx="213055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SolarGrid 50K</a:t>
              </a:r>
              <a:endParaRPr lang="en-US" sz="8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935773" y="1989756"/>
              <a:ext cx="635651" cy="1648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E800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£120</a:t>
              </a:r>
              <a:endParaRPr lang="en-US" sz="850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F814347-A455-4111-AB52-4F52F8B9C32B}"/>
              </a:ext>
            </a:extLst>
          </p:cNvPr>
          <p:cNvGrpSpPr/>
          <p:nvPr/>
        </p:nvGrpSpPr>
        <p:grpSpPr>
          <a:xfrm>
            <a:off x="4922892" y="3441622"/>
            <a:ext cx="4029084" cy="998080"/>
            <a:chOff x="3090672" y="1261872"/>
            <a:chExt cx="2788920" cy="1426464"/>
          </a:xfrm>
        </p:grpSpPr>
        <p:sp>
          <p:nvSpPr>
            <p:cNvPr id="18" name="Shape 16"/>
            <p:cNvSpPr/>
            <p:nvPr/>
          </p:nvSpPr>
          <p:spPr>
            <a:xfrm>
              <a:off x="3090672" y="1261872"/>
              <a:ext cx="2788920" cy="1426464"/>
            </a:xfrm>
            <a:prstGeom prst="rect">
              <a:avLst/>
            </a:prstGeom>
            <a:solidFill>
              <a:srgbClr val="1A1A1A"/>
            </a:solidFill>
            <a:ln w="15240">
              <a:solidFill>
                <a:srgbClr val="F59E0B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3090672" y="1261872"/>
              <a:ext cx="2788920" cy="36576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3200400" y="1335024"/>
              <a:ext cx="2569464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Premium Residential</a:t>
              </a:r>
              <a:endParaRPr lang="en-US" sz="9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3200400" y="1645920"/>
              <a:ext cx="213055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SmartHub Pro X</a:t>
              </a:r>
              <a:endParaRPr lang="en-US" sz="8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276088" y="1618488"/>
              <a:ext cx="2011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£45</a:t>
              </a:r>
              <a:endParaRPr lang="en-US" sz="8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3200400" y="1975104"/>
              <a:ext cx="213055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EcoPanel 5K</a:t>
              </a:r>
              <a:endParaRPr lang="en-US" sz="8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5276088" y="1947672"/>
              <a:ext cx="2011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£45</a:t>
              </a:r>
              <a:endParaRPr lang="en-US" sz="8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3200400" y="2304288"/>
              <a:ext cx="213055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SolarLink 10K</a:t>
              </a:r>
              <a:endParaRPr lang="en-US" sz="85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276088" y="2276856"/>
              <a:ext cx="2011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£45</a:t>
              </a:r>
              <a:endParaRPr lang="en-US" sz="850" dirty="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E452600-8230-4A95-A2B2-CB50E6CB8682}"/>
              </a:ext>
            </a:extLst>
          </p:cNvPr>
          <p:cNvGrpSpPr/>
          <p:nvPr/>
        </p:nvGrpSpPr>
        <p:grpSpPr>
          <a:xfrm>
            <a:off x="4913748" y="1261872"/>
            <a:ext cx="4047372" cy="998080"/>
            <a:chOff x="5998464" y="1261872"/>
            <a:chExt cx="3035808" cy="1426464"/>
          </a:xfrm>
        </p:grpSpPr>
        <p:sp>
          <p:nvSpPr>
            <p:cNvPr id="30" name="Shape 28"/>
            <p:cNvSpPr/>
            <p:nvPr/>
          </p:nvSpPr>
          <p:spPr>
            <a:xfrm>
              <a:off x="5998464" y="1261872"/>
              <a:ext cx="3035808" cy="1426464"/>
            </a:xfrm>
            <a:prstGeom prst="rect">
              <a:avLst/>
            </a:prstGeom>
            <a:solidFill>
              <a:srgbClr val="1A1A1A"/>
            </a:solidFill>
            <a:ln w="15240">
              <a:solidFill>
                <a:srgbClr val="22C55E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5998464" y="1261872"/>
              <a:ext cx="3035808" cy="36576"/>
            </a:xfrm>
            <a:prstGeom prst="rect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6108192" y="1335024"/>
              <a:ext cx="281635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22C55E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Standard Residential</a:t>
              </a:r>
              <a:endParaRPr lang="en-US" sz="9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6108192" y="1645920"/>
              <a:ext cx="23774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HomeSense 3K</a:t>
              </a:r>
              <a:endParaRPr lang="en-US" sz="85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8240818" y="1660518"/>
              <a:ext cx="171661" cy="2498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£25</a:t>
              </a:r>
              <a:endParaRPr lang="en-US" sz="85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6108192" y="1975104"/>
              <a:ext cx="23774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ConnectGrid 7K</a:t>
              </a:r>
              <a:endParaRPr lang="en-US" sz="85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8211312" y="1983556"/>
              <a:ext cx="2011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£25</a:t>
              </a:r>
              <a:endParaRPr lang="en-US" sz="85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6108192" y="2304288"/>
              <a:ext cx="23774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SmartHub Lite</a:t>
              </a:r>
              <a:endParaRPr lang="en-US" sz="85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8211312" y="2312740"/>
              <a:ext cx="2011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£25</a:t>
              </a:r>
              <a:endParaRPr lang="en-US" sz="850" dirty="0"/>
            </a:p>
          </p:txBody>
        </p:sp>
      </p:grpSp>
      <p:sp>
        <p:nvSpPr>
          <p:cNvPr id="42" name="Shape 40"/>
          <p:cNvSpPr/>
          <p:nvPr/>
        </p:nvSpPr>
        <p:spPr>
          <a:xfrm>
            <a:off x="155448" y="3392425"/>
            <a:ext cx="4324344" cy="1042415"/>
          </a:xfrm>
          <a:prstGeom prst="rect">
            <a:avLst/>
          </a:prstGeom>
          <a:solidFill>
            <a:srgbClr val="1A1A1A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8016" y="3392424"/>
            <a:ext cx="2788920" cy="333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445710"/>
            <a:ext cx="2569464" cy="18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Entry Level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37744" y="3672178"/>
            <a:ext cx="2130552" cy="18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EcoPanel 2.5K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344284" y="3577198"/>
            <a:ext cx="239972" cy="24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37744" y="3911966"/>
            <a:ext cx="2130552" cy="18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SolarLink 6K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383088" y="3877668"/>
            <a:ext cx="201168" cy="18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37744" y="4151755"/>
            <a:ext cx="2130552" cy="18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HomeSense 1K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383088" y="4117457"/>
            <a:ext cx="201168" cy="18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</a:t>
            </a:r>
            <a:endParaRPr lang="en-US" sz="850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8E4A52A-D380-48D1-B5E8-1DBEFB1907A9}"/>
              </a:ext>
            </a:extLst>
          </p:cNvPr>
          <p:cNvGrpSpPr/>
          <p:nvPr/>
        </p:nvGrpSpPr>
        <p:grpSpPr>
          <a:xfrm>
            <a:off x="155448" y="2282752"/>
            <a:ext cx="4324344" cy="993132"/>
            <a:chOff x="3090672" y="2907792"/>
            <a:chExt cx="2788920" cy="1078992"/>
          </a:xfrm>
        </p:grpSpPr>
        <p:sp>
          <p:nvSpPr>
            <p:cNvPr id="54" name="Shape 52"/>
            <p:cNvSpPr/>
            <p:nvPr/>
          </p:nvSpPr>
          <p:spPr>
            <a:xfrm>
              <a:off x="3090672" y="2907792"/>
              <a:ext cx="2788920" cy="1078992"/>
            </a:xfrm>
            <a:prstGeom prst="rect">
              <a:avLst/>
            </a:prstGeom>
            <a:solidFill>
              <a:srgbClr val="1A1A1A"/>
            </a:solidFill>
            <a:ln w="15240">
              <a:solidFill>
                <a:srgbClr val="9B59B6"/>
              </a:solidFill>
              <a:prstDash val="solid"/>
            </a:ln>
          </p:spPr>
        </p:sp>
        <p:sp>
          <p:nvSpPr>
            <p:cNvPr id="55" name="Shape 53"/>
            <p:cNvSpPr/>
            <p:nvPr/>
          </p:nvSpPr>
          <p:spPr>
            <a:xfrm>
              <a:off x="3090672" y="2907792"/>
              <a:ext cx="2788920" cy="36576"/>
            </a:xfrm>
            <a:prstGeom prst="rect">
              <a:avLst/>
            </a:prstGeom>
            <a:solidFill>
              <a:srgbClr val="9B59B6"/>
            </a:solidFill>
            <a:ln w="12700">
              <a:solidFill>
                <a:srgbClr val="9B59B6"/>
              </a:solidFill>
              <a:prstDash val="solid"/>
            </a:ln>
          </p:spPr>
        </p:sp>
        <p:sp>
          <p:nvSpPr>
            <p:cNvPr id="56" name="Text 54"/>
            <p:cNvSpPr/>
            <p:nvPr/>
          </p:nvSpPr>
          <p:spPr>
            <a:xfrm>
              <a:off x="3200400" y="2980944"/>
              <a:ext cx="2569464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9B59B6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Accessories &amp; Add-ons</a:t>
              </a:r>
              <a:endParaRPr lang="en-US" sz="9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3200400" y="3291840"/>
              <a:ext cx="213055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SmartSensor Pro</a:t>
              </a:r>
              <a:endParaRPr lang="en-US" sz="85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5151760" y="3273552"/>
              <a:ext cx="29806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9B59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£8</a:t>
              </a:r>
              <a:endParaRPr lang="en-US" sz="85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3200400" y="3621024"/>
              <a:ext cx="213055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ConnectBridge</a:t>
              </a:r>
              <a:endParaRPr lang="en-US" sz="85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5151760" y="3575304"/>
              <a:ext cx="298064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9B59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£8</a:t>
              </a:r>
              <a:endParaRPr lang="en-US" sz="850" dirty="0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1171A09-1422-4BE4-B1E2-1D761A80490B}"/>
              </a:ext>
            </a:extLst>
          </p:cNvPr>
          <p:cNvGrpSpPr/>
          <p:nvPr/>
        </p:nvGrpSpPr>
        <p:grpSpPr>
          <a:xfrm>
            <a:off x="4913748" y="2346613"/>
            <a:ext cx="4047372" cy="993132"/>
            <a:chOff x="5998464" y="2907792"/>
            <a:chExt cx="3035808" cy="1078992"/>
          </a:xfrm>
        </p:grpSpPr>
        <p:sp>
          <p:nvSpPr>
            <p:cNvPr id="63" name="Shape 61"/>
            <p:cNvSpPr/>
            <p:nvPr/>
          </p:nvSpPr>
          <p:spPr>
            <a:xfrm>
              <a:off x="5998464" y="2907792"/>
              <a:ext cx="3035808" cy="1078992"/>
            </a:xfrm>
            <a:prstGeom prst="rect">
              <a:avLst/>
            </a:prstGeom>
            <a:solidFill>
              <a:srgbClr val="1A1A1A"/>
            </a:solidFill>
            <a:ln w="15240">
              <a:solidFill>
                <a:srgbClr val="666666"/>
              </a:solidFill>
              <a:prstDash val="solid"/>
            </a:ln>
          </p:spPr>
        </p:sp>
        <p:sp>
          <p:nvSpPr>
            <p:cNvPr id="64" name="Shape 62"/>
            <p:cNvSpPr/>
            <p:nvPr/>
          </p:nvSpPr>
          <p:spPr>
            <a:xfrm>
              <a:off x="5998464" y="2907792"/>
              <a:ext cx="3035808" cy="36576"/>
            </a:xfrm>
            <a:prstGeom prst="rect">
              <a:avLst/>
            </a:prstGeom>
            <a:solidFill>
              <a:srgbClr val="666666"/>
            </a:solidFill>
            <a:ln w="12700">
              <a:solidFill>
                <a:srgbClr val="666666"/>
              </a:solidFill>
              <a:prstDash val="solid"/>
            </a:ln>
          </p:spPr>
        </p:sp>
        <p:sp>
          <p:nvSpPr>
            <p:cNvPr id="65" name="Text 63"/>
            <p:cNvSpPr/>
            <p:nvPr/>
          </p:nvSpPr>
          <p:spPr>
            <a:xfrm>
              <a:off x="6108192" y="2980944"/>
              <a:ext cx="281635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66666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Commercial IoT</a:t>
              </a:r>
              <a:endParaRPr lang="en-US" sz="900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6108192" y="3291840"/>
              <a:ext cx="23774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IoT Gateway Pro</a:t>
              </a:r>
              <a:endParaRPr lang="en-US" sz="85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8243278" y="3246120"/>
              <a:ext cx="2011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£60</a:t>
              </a:r>
              <a:endParaRPr lang="en-US" sz="850" dirty="0"/>
            </a:p>
          </p:txBody>
        </p:sp>
        <p:sp>
          <p:nvSpPr>
            <p:cNvPr id="69" name="Text 67"/>
            <p:cNvSpPr/>
            <p:nvPr/>
          </p:nvSpPr>
          <p:spPr>
            <a:xfrm>
              <a:off x="6108192" y="3621024"/>
              <a:ext cx="23774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SensorNet 20</a:t>
              </a:r>
              <a:endParaRPr lang="en-US" sz="850" dirty="0"/>
            </a:p>
          </p:txBody>
        </p:sp>
        <p:sp>
          <p:nvSpPr>
            <p:cNvPr id="71" name="Text 69"/>
            <p:cNvSpPr/>
            <p:nvPr/>
          </p:nvSpPr>
          <p:spPr>
            <a:xfrm>
              <a:off x="8243278" y="3575304"/>
              <a:ext cx="2011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£60</a:t>
              </a:r>
              <a:endParaRPr lang="en-US" sz="850" dirty="0"/>
            </a:p>
          </p:txBody>
        </p:sp>
      </p:grpSp>
      <p:sp>
        <p:nvSpPr>
          <p:cNvPr id="72" name="Shape 70"/>
          <p:cNvSpPr/>
          <p:nvPr/>
        </p:nvSpPr>
        <p:spPr>
          <a:xfrm>
            <a:off x="109728" y="4626864"/>
            <a:ext cx="8924544" cy="402336"/>
          </a:xfrm>
          <a:prstGeom prst="rect">
            <a:avLst/>
          </a:prstGeom>
          <a:solidFill>
            <a:srgbClr val="1A0205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37744" y="46360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per-product commission model removes earning caps — the more engineers deploy, the more they earn. This directly incentivises volume, quality submission, and client activation rates.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NEW QUARTER TARGETS &amp; STRATEGY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82880" y="228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STRATEGY FOCUS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53035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2024  |  Activation · Lead Conversion · Territory Strength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2852928" cy="3703320"/>
          </a:xfrm>
          <a:prstGeom prst="rect">
            <a:avLst/>
          </a:prstGeom>
          <a:solidFill>
            <a:srgbClr val="1A1A1A"/>
          </a:solidFill>
          <a:ln w="15240">
            <a:solidFill>
              <a:srgbClr val="E800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804672"/>
            <a:ext cx="2852928" cy="36576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8961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0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" y="146304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Improve Client Activation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0896" y="2029968"/>
            <a:ext cx="2542032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2121408"/>
            <a:ext cx="2596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deployed client must be fully activated and onboarded. Weekly tracking, dedicated support for inactive accounts. Priority territories: Leeds and Glasgow. Target: 90%+ activation by end of Q2.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45536" y="804672"/>
            <a:ext cx="2852928" cy="3703320"/>
          </a:xfrm>
          <a:prstGeom prst="rect">
            <a:avLst/>
          </a:prstGeom>
          <a:solidFill>
            <a:srgbClr val="1A1A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45536" y="804672"/>
            <a:ext cx="2852928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8961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73552" y="146304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Increase Lead Conversion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73552" y="2029968"/>
            <a:ext cx="2542032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73552" y="2121408"/>
            <a:ext cx="2596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lead response time to under 4 hours across all regions. Prioritise Birmingham's high-velocity pipeline. Assign territory leads based on conversion capacity. Track conversion weekly.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08192" y="804672"/>
            <a:ext cx="2852928" cy="3703320"/>
          </a:xfrm>
          <a:prstGeom prst="rect">
            <a:avLst/>
          </a:prstGeom>
          <a:solidFill>
            <a:srgbClr val="1A1A1A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08192" y="804672"/>
            <a:ext cx="2852928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8961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36208" y="146304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Strengthen Territory Performance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36208" y="2029968"/>
            <a:ext cx="2542032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2121408"/>
            <a:ext cx="2596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Capitalise on Birmingham's 63% March growth. Invest in Leeds pipeline development. Build territory-level micro-targets — no region should decline for 2 consecutive months.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9728" y="4626864"/>
            <a:ext cx="8924544" cy="402336"/>
          </a:xfrm>
          <a:prstGeom prst="rect">
            <a:avLst/>
          </a:prstGeom>
          <a:solidFill>
            <a:srgbClr val="1A0205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" y="46360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flywheel: more activated clients → stronger referrals → better conversions → higher revenue. Each link must be measured and tightened every week, not every quarter.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NEW QUARTER TARGETS &amp; STRATEGY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82880" y="228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&amp; ENABLEMENT STRATEGY FOR Q2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53035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Reach · Standardise Skills · Drive Commission Qualification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8869680" cy="292608"/>
          </a:xfrm>
          <a:prstGeom prst="rect">
            <a:avLst/>
          </a:prstGeom>
          <a:solidFill>
            <a:srgbClr val="0A102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22960"/>
            <a:ext cx="8650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TRAINING OBJECTIVE: Build product knowledge, standardise installation procedures, and certify a new wave of high-performing field engineers across all 5 territories.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" y="1207008"/>
            <a:ext cx="2852928" cy="3273552"/>
          </a:xfrm>
          <a:prstGeom prst="rect">
            <a:avLst/>
          </a:prstGeom>
          <a:solidFill>
            <a:srgbClr val="1A1A1A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207008"/>
            <a:ext cx="2852928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1298448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Virtual Training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0896" y="1883664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75564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product webinars to all 5 territories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0896" y="2450592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2257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knowledge sessions — SmartHub &amp; EcoPanel series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0896" y="3017520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88950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400+ virtual attendees in Q2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0896" y="3584448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4564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app usage, configuration, and remote monitoring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72968" y="1207008"/>
            <a:ext cx="2852928" cy="3273552"/>
          </a:xfrm>
          <a:prstGeom prst="rect">
            <a:avLst/>
          </a:prstGeom>
          <a:solidFill>
            <a:srgbClr val="1A1A1A"/>
          </a:solidFill>
          <a:ln w="15240">
            <a:solidFill>
              <a:srgbClr val="E800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72968" y="1207008"/>
            <a:ext cx="2852928" cy="36576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0984" y="1298448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Physical / Hands-On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00984" y="1883664"/>
            <a:ext cx="64008" cy="640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75564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2-day practical training (Theory + SOP → Practice + Certification)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00984" y="2450592"/>
            <a:ext cx="64008" cy="640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232257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installation, hub configuration, IoT pairing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00984" y="3017520"/>
            <a:ext cx="64008" cy="640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288950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exam: written + practical at end of each session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00984" y="3584448"/>
            <a:ext cx="64008" cy="640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4564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regions: London, Birmingham, Manchester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63056" y="1207008"/>
            <a:ext cx="2852928" cy="3273552"/>
          </a:xfrm>
          <a:prstGeom prst="rect">
            <a:avLst/>
          </a:prstGeom>
          <a:solidFill>
            <a:srgbClr val="1A1A1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63056" y="1207008"/>
            <a:ext cx="2852928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1298448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on Performance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91072" y="1883664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175564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→ correct setup → client activation → commission qualification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91072" y="2450592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232257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reduce support call-back rate from 18% to below 8%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91072" y="3017520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19088" y="288950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coaching: top performers mentor below-quota engineers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91072" y="3584448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9088" y="34564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drives engineer confidence and repeat business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9728" y="4626864"/>
            <a:ext cx="8924544" cy="402336"/>
          </a:xfrm>
          <a:prstGeom prst="rect">
            <a:avLst/>
          </a:prstGeom>
          <a:solidFill>
            <a:srgbClr val="1A0205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7744" y="46360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the most direct lever to reduce the support call-back rate (currently 18%) and increase commission qualification. Every certified engineer is a potential top qualifier under the new policy.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320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E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Strategy Execution Plan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2423160"/>
            <a:ext cx="85039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54203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strategy into concrete weekly and monthly actions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operations, training, and marketing for Q2 2024.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99677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STRATEGY EXECUTION PLAN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82880" y="97971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EXECUTION PLAN – FIELD OPERATIONS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53035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Tracking · Engagement · Territory Focus  |  Q2 2024</a:t>
            </a:r>
            <a:endParaRPr lang="en-US" sz="85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DA3CB03-6E33-41BA-8084-79BB086DDD7A}"/>
              </a:ext>
            </a:extLst>
          </p:cNvPr>
          <p:cNvGrpSpPr/>
          <p:nvPr/>
        </p:nvGrpSpPr>
        <p:grpSpPr>
          <a:xfrm>
            <a:off x="182880" y="804672"/>
            <a:ext cx="5074920" cy="1767078"/>
            <a:chOff x="182880" y="804672"/>
            <a:chExt cx="5074920" cy="1892808"/>
          </a:xfrm>
        </p:grpSpPr>
        <p:sp>
          <p:nvSpPr>
            <p:cNvPr id="7" name="Shape 5"/>
            <p:cNvSpPr/>
            <p:nvPr/>
          </p:nvSpPr>
          <p:spPr>
            <a:xfrm>
              <a:off x="182880" y="804672"/>
              <a:ext cx="5074920" cy="1892808"/>
            </a:xfrm>
            <a:prstGeom prst="rect">
              <a:avLst/>
            </a:prstGeom>
            <a:solidFill>
              <a:srgbClr val="1A1A1A"/>
            </a:solidFill>
            <a:ln w="15240">
              <a:solidFill>
                <a:srgbClr val="E8001C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182880" y="804672"/>
              <a:ext cx="5074920" cy="36576"/>
            </a:xfrm>
            <a:prstGeom prst="rect">
              <a:avLst/>
            </a:prstGeom>
            <a:solidFill>
              <a:srgbClr val="E8001C"/>
            </a:solidFill>
            <a:ln w="12700">
              <a:solidFill>
                <a:srgbClr val="E8001C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292608" y="896112"/>
              <a:ext cx="4846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Weekly Client Tracking</a:t>
              </a:r>
              <a:endParaRPr lang="en-US" sz="11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292608" y="1426464"/>
              <a:ext cx="64008" cy="64008"/>
            </a:xfrm>
            <a:prstGeom prst="rect">
              <a:avLst/>
            </a:prstGeom>
            <a:solidFill>
              <a:srgbClr val="E8001C"/>
            </a:solidFill>
            <a:ln w="12700">
              <a:solidFill>
                <a:srgbClr val="E8001C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420624" y="1280160"/>
              <a:ext cx="47091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C8C8C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Monitor each client's activation status against weekly KPIs</a:t>
              </a:r>
              <a:endParaRPr lang="en-US" sz="95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92608" y="1865376"/>
              <a:ext cx="64008" cy="64008"/>
            </a:xfrm>
            <a:prstGeom prst="rect">
              <a:avLst/>
            </a:prstGeom>
            <a:solidFill>
              <a:srgbClr val="E8001C"/>
            </a:solidFill>
            <a:ln w="12700">
              <a:solidFill>
                <a:srgbClr val="E8001C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420624" y="1719072"/>
              <a:ext cx="47091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C8C8C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Flag inactive accounts by Day 10 of each month</a:t>
              </a:r>
              <a:endParaRPr lang="en-US" sz="9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292608" y="2304288"/>
              <a:ext cx="64008" cy="64008"/>
            </a:xfrm>
            <a:prstGeom prst="rect">
              <a:avLst/>
            </a:prstGeom>
            <a:solidFill>
              <a:srgbClr val="E8001C"/>
            </a:solidFill>
            <a:ln w="12700">
              <a:solidFill>
                <a:srgbClr val="E8001C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20624" y="2157984"/>
              <a:ext cx="47091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C8C8C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Provide dedicated onboarding support calls by Day 17</a:t>
              </a:r>
              <a:endParaRPr lang="en-US" sz="950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46F8211-FEE7-463A-8E07-61C64C7D8944}"/>
              </a:ext>
            </a:extLst>
          </p:cNvPr>
          <p:cNvGrpSpPr/>
          <p:nvPr/>
        </p:nvGrpSpPr>
        <p:grpSpPr>
          <a:xfrm>
            <a:off x="182880" y="2774166"/>
            <a:ext cx="5074920" cy="1767077"/>
            <a:chOff x="182880" y="2788920"/>
            <a:chExt cx="5074920" cy="2340864"/>
          </a:xfrm>
        </p:grpSpPr>
        <p:sp>
          <p:nvSpPr>
            <p:cNvPr id="16" name="Shape 14"/>
            <p:cNvSpPr/>
            <p:nvPr/>
          </p:nvSpPr>
          <p:spPr>
            <a:xfrm>
              <a:off x="292608" y="2889197"/>
              <a:ext cx="64008" cy="64008"/>
            </a:xfrm>
            <a:prstGeom prst="rect">
              <a:avLst/>
            </a:prstGeom>
            <a:solidFill>
              <a:srgbClr val="E8001C"/>
            </a:solidFill>
            <a:ln w="12700">
              <a:solidFill>
                <a:srgbClr val="E8001C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182880" y="2788920"/>
              <a:ext cx="5074920" cy="2340864"/>
            </a:xfrm>
            <a:prstGeom prst="rect">
              <a:avLst/>
            </a:prstGeom>
            <a:solidFill>
              <a:srgbClr val="1A1A1A"/>
            </a:solidFill>
            <a:ln w="15240">
              <a:solidFill>
                <a:srgbClr val="F59E0B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182880" y="2788920"/>
              <a:ext cx="5074920" cy="36576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292608" y="2880360"/>
              <a:ext cx="4846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Engineer Engagement &amp; Development</a:t>
              </a:r>
              <a:endParaRPr lang="en-US" sz="11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92608" y="3410712"/>
              <a:ext cx="64008" cy="64008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420624" y="3264408"/>
              <a:ext cx="47091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C8C8C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Re-engage inactive field engineers via commission communication and direct calls</a:t>
              </a:r>
              <a:endParaRPr lang="en-US" sz="95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292608" y="3849624"/>
              <a:ext cx="64008" cy="64008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420624" y="3703320"/>
              <a:ext cx="47091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C8C8C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Grow active engineer rate from current baseline to 85%+ by end of Q2</a:t>
              </a:r>
              <a:endParaRPr lang="en-US" sz="9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292608" y="4288536"/>
              <a:ext cx="64008" cy="64008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420624" y="4142232"/>
              <a:ext cx="47091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C8C8C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Increase retention — target 40%+ repeat deployment rate per engineer</a:t>
              </a:r>
              <a:endParaRPr lang="en-US" sz="9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292608" y="4727448"/>
              <a:ext cx="64008" cy="64008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420624" y="4581144"/>
              <a:ext cx="47091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C8C8C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Monthly performance surveys to track engineer satisfaction and blockers</a:t>
              </a:r>
              <a:endParaRPr lang="en-US" sz="950" dirty="0"/>
            </a:p>
          </p:txBody>
        </p:sp>
      </p:grpSp>
      <p:sp>
        <p:nvSpPr>
          <p:cNvPr id="29" name="Shape 27"/>
          <p:cNvSpPr/>
          <p:nvPr/>
        </p:nvSpPr>
        <p:spPr>
          <a:xfrm>
            <a:off x="5413248" y="804672"/>
            <a:ext cx="3621024" cy="2926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22976" y="82296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TERRITORY FOCUS ACTIONS</a:t>
            </a:r>
            <a:endParaRPr lang="en-US" sz="95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7566BCF-0A4E-424C-ABA2-67B95BC295AE}"/>
              </a:ext>
            </a:extLst>
          </p:cNvPr>
          <p:cNvGrpSpPr/>
          <p:nvPr/>
        </p:nvGrpSpPr>
        <p:grpSpPr>
          <a:xfrm>
            <a:off x="5413248" y="1170432"/>
            <a:ext cx="3621024" cy="3360610"/>
            <a:chOff x="5413248" y="1170432"/>
            <a:chExt cx="3621024" cy="3602736"/>
          </a:xfrm>
        </p:grpSpPr>
        <p:sp>
          <p:nvSpPr>
            <p:cNvPr id="31" name="Shape 29"/>
            <p:cNvSpPr/>
            <p:nvPr/>
          </p:nvSpPr>
          <p:spPr>
            <a:xfrm>
              <a:off x="5413248" y="1170432"/>
              <a:ext cx="3621024" cy="804672"/>
            </a:xfrm>
            <a:prstGeom prst="rect">
              <a:avLst/>
            </a:prstGeom>
            <a:solidFill>
              <a:srgbClr val="1A1A1A"/>
            </a:solidFill>
            <a:ln w="12700">
              <a:solidFill>
                <a:srgbClr val="22C55E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5413248" y="1170432"/>
              <a:ext cx="36576" cy="804672"/>
            </a:xfrm>
            <a:prstGeom prst="rect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5541264" y="1234440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London + Manchester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5541264" y="1536192"/>
              <a:ext cx="33832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C8C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Defend top position. Push for 95%+ activation. Expand product depth per account.</a:t>
              </a:r>
              <a:endParaRPr lang="en-US" sz="85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5413248" y="2103120"/>
              <a:ext cx="3621024" cy="804672"/>
            </a:xfrm>
            <a:prstGeom prst="rect">
              <a:avLst/>
            </a:prstGeom>
            <a:solidFill>
              <a:srgbClr val="1A1A1A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5413248" y="2103120"/>
              <a:ext cx="36576" cy="804672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5541264" y="2167128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Birmingham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5541264" y="2468880"/>
              <a:ext cx="33832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C8C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Capitalise on 63% March growth. Target £1.16M in Q2. Assign dedicated support.</a:t>
              </a:r>
              <a:endParaRPr lang="en-US" sz="85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5413248" y="3035808"/>
              <a:ext cx="3621024" cy="804672"/>
            </a:xfrm>
            <a:prstGeom prst="rect">
              <a:avLst/>
            </a:prstGeom>
            <a:solidFill>
              <a:srgbClr val="1A1A1A"/>
            </a:solidFill>
            <a:ln w="12700">
              <a:solidFill>
                <a:srgbClr val="E8001C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5413248" y="3035808"/>
              <a:ext cx="36576" cy="804672"/>
            </a:xfrm>
            <a:prstGeom prst="rect">
              <a:avLst/>
            </a:prstGeom>
            <a:solidFill>
              <a:srgbClr val="E8001C"/>
            </a:solidFill>
            <a:ln w="12700">
              <a:solidFill>
                <a:srgbClr val="E8001C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5541264" y="3099816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Leeds</a:t>
              </a:r>
              <a:endParaRPr lang="en-US" sz="10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5541264" y="3401568"/>
              <a:ext cx="33832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C8C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Improve lead conversion speed. Target £580K. Deploy targeted training.</a:t>
              </a:r>
              <a:endParaRPr lang="en-US" sz="85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5413248" y="3968496"/>
              <a:ext cx="3621024" cy="804672"/>
            </a:xfrm>
            <a:prstGeom prst="rect">
              <a:avLst/>
            </a:prstGeom>
            <a:solidFill>
              <a:srgbClr val="1A1A1A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44" name="Shape 42"/>
            <p:cNvSpPr/>
            <p:nvPr/>
          </p:nvSpPr>
          <p:spPr>
            <a:xfrm>
              <a:off x="5413248" y="3968496"/>
              <a:ext cx="36576" cy="804672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5541264" y="4032504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Glasgow</a:t>
              </a:r>
              <a:endParaRPr lang="en-US" sz="10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5541264" y="4334256"/>
              <a:ext cx="33832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C8C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Develop territory pipeline. Identify top 5 channel partners. Grow from £170K base.</a:t>
              </a:r>
              <a:endParaRPr lang="en-US" sz="850" dirty="0"/>
            </a:p>
          </p:txBody>
        </p:sp>
      </p:grpSp>
      <p:sp>
        <p:nvSpPr>
          <p:cNvPr id="47" name="Shape 45"/>
          <p:cNvSpPr/>
          <p:nvPr/>
        </p:nvSpPr>
        <p:spPr>
          <a:xfrm>
            <a:off x="109728" y="4692273"/>
            <a:ext cx="8924544" cy="402336"/>
          </a:xfrm>
          <a:prstGeom prst="rect">
            <a:avLst/>
          </a:prstGeom>
          <a:solidFill>
            <a:srgbClr val="1A0205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4701417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tracking + territory focus = no silent underperformance. Every inactive client is an opportunity. The new per-product commission policy makes every deployment count.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STRATEGY EXECUTION PLAN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82880" y="228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EXECUTION PLAN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53035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June 2024  |  Calendar · Rollout · Engineer Certification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82880" y="80467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 Training Objectives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133856"/>
            <a:ext cx="210312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133856"/>
            <a:ext cx="2103120" cy="36576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188720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strong product knowledge across SmartHub, EcoPanel &amp; SolarLink ranges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23160" y="1133856"/>
            <a:ext cx="210312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133856"/>
            <a:ext cx="2103120" cy="36576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188720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deployment procedures through SOPs and hands-on practice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133856"/>
            <a:ext cx="210312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133856"/>
            <a:ext cx="2103120" cy="36576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188720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field and internal staff capacity through consistent training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903720" y="1133856"/>
            <a:ext cx="210312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133856"/>
            <a:ext cx="2103120" cy="36576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13448" y="1188720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updated technical guides and SOPs aligned to new product releases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2103120"/>
            <a:ext cx="2852928" cy="2395728"/>
          </a:xfrm>
          <a:prstGeom prst="rect">
            <a:avLst/>
          </a:prstGeom>
          <a:solidFill>
            <a:srgbClr val="1A1A1A"/>
          </a:solidFill>
          <a:ln w="15240">
            <a:solidFill>
              <a:srgbClr val="E800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2103120"/>
            <a:ext cx="2852928" cy="2926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12140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APRIL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2608" y="2670048"/>
            <a:ext cx="64008" cy="640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2542032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knowledge refresh across all 5 territories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2608" y="3145536"/>
            <a:ext cx="64008" cy="640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301752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training: London, Birmingham, Manchester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92608" y="3621024"/>
            <a:ext cx="64008" cy="640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493008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sessions: Leeds, Glasgow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92608" y="4096512"/>
            <a:ext cx="64008" cy="640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396849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updated SOPs + new commission policy guide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72968" y="2103120"/>
            <a:ext cx="2852928" cy="2395728"/>
          </a:xfrm>
          <a:prstGeom prst="rect">
            <a:avLst/>
          </a:prstGeom>
          <a:solidFill>
            <a:srgbClr val="1A1A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72968" y="2103120"/>
            <a:ext cx="2852928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2696" y="212140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82696" y="2670048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0712" y="2542032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Mid-quarter hands-on sessions — 3 locations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82696" y="3145536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10712" y="301752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2-day practical: app usage, hub configuration, IoT setup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82696" y="3621024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10712" y="3493008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SmartHub Pro X + SolarLink 10K series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82696" y="4096512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10712" y="396849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Mid-Q2 performance impact assessment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63056" y="2103120"/>
            <a:ext cx="2852928" cy="2395728"/>
          </a:xfrm>
          <a:prstGeom prst="rect">
            <a:avLst/>
          </a:prstGeom>
          <a:solidFill>
            <a:srgbClr val="1A1A1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63056" y="2103120"/>
            <a:ext cx="2852928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2784" y="212140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72784" y="2670048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2542032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push training in underperforming territories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72784" y="3145536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301752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exams: written + practical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72784" y="3621024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3493008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certification assessments completed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72784" y="4096512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396849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report and Q2 impact analysis delivered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9728" y="4626864"/>
            <a:ext cx="8924544" cy="402336"/>
          </a:xfrm>
          <a:prstGeom prst="rect">
            <a:avLst/>
          </a:prstGeom>
          <a:solidFill>
            <a:srgbClr val="1A0205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7744" y="46360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2-day training standard: Theory → SOP → App Config → Practice → Certification. Every certified engineer exits with a clear deployment protocol — directly reducing support callbacks.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STRATEGY EXECUTION PLAN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82880" y="228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 &amp; SUPPORT PLAN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53035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2024  |  Materials · HQ Support · Lead Management · Competitor Monitoring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4160520" cy="3703320"/>
          </a:xfrm>
          <a:prstGeom prst="rect">
            <a:avLst/>
          </a:prstGeom>
          <a:solidFill>
            <a:srgbClr val="1A1A1A"/>
          </a:solidFill>
          <a:ln w="15240">
            <a:solidFill>
              <a:srgbClr val="E800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804672"/>
            <a:ext cx="4160520" cy="36576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896112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 Materials Request (Apr–Jun)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0896" y="1444752"/>
            <a:ext cx="64008" cy="640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16736"/>
            <a:ext cx="3776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HQ: Branded PPE kits (50), Field tool kits (50), Reflective vests (50), Safety helmets (100)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0896" y="1938528"/>
            <a:ext cx="64008" cy="640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810512"/>
            <a:ext cx="3776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Office: Branded shirts 500pcs, Flyers 500pcs, Tote bags 500pcs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0896" y="2432304"/>
            <a:ext cx="64008" cy="640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04288"/>
            <a:ext cx="3776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E-flyers: Training flyers + commission policy flyers (ongoing)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0896" y="2926080"/>
            <a:ext cx="64008" cy="640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798064"/>
            <a:ext cx="3776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Videos: ~10 product and training videos for Q2 campaigns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0896" y="3419856"/>
            <a:ext cx="64008" cy="640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291840"/>
            <a:ext cx="3776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media: Boost commission awareness content to drive engineer recruitment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0896" y="3913632"/>
            <a:ext cx="64008" cy="640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785616"/>
            <a:ext cx="3776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visibility: Display materials, banners, and POS displays for distributor outlets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480560" y="804672"/>
            <a:ext cx="4553712" cy="1719072"/>
          </a:xfrm>
          <a:prstGeom prst="rect">
            <a:avLst/>
          </a:prstGeom>
          <a:solidFill>
            <a:srgbClr val="1A1A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804672"/>
            <a:ext cx="4553712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8961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 Required from HQ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08576" y="1444752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1316736"/>
            <a:ext cx="4169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SmartHub + SolarLink demo units allocated to training team for physical sessions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08576" y="1938528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1810512"/>
            <a:ext cx="4169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support team deployment during all hands-on training dates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08576" y="2432304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2304288"/>
            <a:ext cx="4169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notice: Regional managers to alert distributors and partners 2+ weeks ahead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08576" y="2926080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2798064"/>
            <a:ext cx="4169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SmartHub Pro X stock availability — Q1 demand exceeded initial allocation by 18%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480560" y="2651760"/>
            <a:ext cx="4553712" cy="1856232"/>
          </a:xfrm>
          <a:prstGeom prst="rect">
            <a:avLst/>
          </a:prstGeom>
          <a:solidFill>
            <a:srgbClr val="1A1A1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0560" y="2651760"/>
            <a:ext cx="4553712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08576" y="27432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 Management &amp; Competitor Monitoring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08576" y="3291840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3163824"/>
            <a:ext cx="4169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&lt;4-hour lead response turnaround — especially Leeds and Glasgow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08576" y="3785616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3657600"/>
            <a:ext cx="4169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leads to certified, highest-performing field engineers by territory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08576" y="4279392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4151376"/>
            <a:ext cx="4169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competitor price analysis — to run once per month throughout Q2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08576" y="4773168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4645152"/>
            <a:ext cx="4169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shared via weekly report and team channel (as per Q1 process)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09728" y="4626864"/>
            <a:ext cx="8924544" cy="402336"/>
          </a:xfrm>
          <a:prstGeom prst="rect">
            <a:avLst/>
          </a:prstGeom>
          <a:solidFill>
            <a:srgbClr val="1A0205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7744" y="46360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visibility gap confirmed in Q1 survey — competitor brands dominate in 2 territories. Q2 marketing must close this gap immediately. Monthly competitor analysis keeps us one step ahead.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320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E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Challenges, Support Needed &amp; Suggestions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2423160"/>
            <a:ext cx="85039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54203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of what is holding us back — and clear recommendations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accelerate performance in Q2 and build a stronger operation long-term.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CHALLENGES, SUPPORT &amp; SUGGESTIONS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82880" y="228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CHALLENGES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53035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Findings  |  What is Holding Performance Back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4297680" cy="1664208"/>
          </a:xfrm>
          <a:prstGeom prst="rect">
            <a:avLst/>
          </a:prstGeom>
          <a:solidFill>
            <a:srgbClr val="1A1A1A"/>
          </a:solidFill>
          <a:ln w="15240">
            <a:solidFill>
              <a:srgbClr val="E800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804672"/>
            <a:ext cx="4297680" cy="36576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89611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0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41248" y="896112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 Client Activation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" y="1353312"/>
            <a:ext cx="40233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463040"/>
            <a:ext cx="4041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15.7% of deployed clients remain inactive. This directly reduces commission qualification, referral pipeline, and recurring revenue. Activation is the highest-priority metric to fix in Q2.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45152" y="804672"/>
            <a:ext cx="4297680" cy="1664208"/>
          </a:xfrm>
          <a:prstGeom prst="rect">
            <a:avLst/>
          </a:prstGeom>
          <a:solidFill>
            <a:srgbClr val="1A1A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45152" y="804672"/>
            <a:ext cx="42976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89611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03520" y="896112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Slow Lead Response in Key Territories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73168" y="1353312"/>
            <a:ext cx="40233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463040"/>
            <a:ext cx="4041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Leeds and Glasgow flagged for slow lead conversion. Average response time exceeds 6 hours in both regions. Slower conversion directly reduces qualified deployment volume and revenue output.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670048"/>
            <a:ext cx="4297680" cy="1664208"/>
          </a:xfrm>
          <a:prstGeom prst="rect">
            <a:avLst/>
          </a:prstGeom>
          <a:solidFill>
            <a:srgbClr val="1A1A1A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670048"/>
            <a:ext cx="429768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76148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1248" y="2761488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 Brand Visibility in Channel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0896" y="3218688"/>
            <a:ext cx="40233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" y="3328416"/>
            <a:ext cx="4041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market survey (February) found competitor brands dominating in 2 territories — better point-of-sale materials, stronger distributor relationships, and more aggressive promotional offers.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45152" y="2670048"/>
            <a:ext cx="4297680" cy="1664208"/>
          </a:xfrm>
          <a:prstGeom prst="rect">
            <a:avLst/>
          </a:prstGeom>
          <a:solidFill>
            <a:srgbClr val="1A1A1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45152" y="2670048"/>
            <a:ext cx="42976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76148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03520" y="2761488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 Support Call-Back Rate &amp; Unofficial Resellers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73168" y="3218688"/>
            <a:ext cx="40233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3328416"/>
            <a:ext cx="4041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support call-back rate suggests deployment quality gaps — directly linked to insufficient technical training. Additionally, unofficial resellers impersonating NovaTech are creating brand and warranty risks.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9728" y="4626864"/>
            <a:ext cx="8924544" cy="402336"/>
          </a:xfrm>
          <a:prstGeom prst="rect">
            <a:avLst/>
          </a:prstGeom>
          <a:solidFill>
            <a:srgbClr val="1A0205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" y="46360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15.7% inactive client rate and 18% support call-back rate are the two highest-impact metrics to fix in Q2. Correcting both could unlock £400K+ in additional qualified revenue.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CHALLENGES, SUPPORT &amp; SUGGESTIONS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82880" y="228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 NEEDED &amp; RECOMMENDATIONS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53035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Win in Q2 and Beyond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2788920" cy="3749040"/>
          </a:xfrm>
          <a:prstGeom prst="rect">
            <a:avLst/>
          </a:prstGeom>
          <a:solidFill>
            <a:srgbClr val="1A1A1A"/>
          </a:solidFill>
          <a:ln w="15240">
            <a:solidFill>
              <a:srgbClr val="E800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804672"/>
            <a:ext cx="2788920" cy="36576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89611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80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 NEEDED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1207008"/>
            <a:ext cx="25603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1463040"/>
            <a:ext cx="64008" cy="640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316736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co-branded materials for field engineer training and commission campaigns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" y="2029968"/>
            <a:ext cx="64008" cy="640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88366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HQ: Allocate demo SmartHub + SolarLink units to training team for physical sessions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2608" y="2596896"/>
            <a:ext cx="64008" cy="640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450592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support team co-deployment during all hands-on training events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2608" y="3163824"/>
            <a:ext cx="64008" cy="640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01752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stock alert system — flag low inventory for top SKUs on a weekly basis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2608" y="3730752"/>
            <a:ext cx="64008" cy="64008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58444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boost for commission content to drive field engineer recruitment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54680" y="804672"/>
            <a:ext cx="2788920" cy="3749040"/>
          </a:xfrm>
          <a:prstGeom prst="rect">
            <a:avLst/>
          </a:prstGeom>
          <a:solidFill>
            <a:srgbClr val="1A1A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804672"/>
            <a:ext cx="27889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89611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STAFFING &amp; STRUCTURE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64408" y="1207008"/>
            <a:ext cx="25603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64408" y="1463040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92424" y="1316736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additional operations staff to manage growing field engineer base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64408" y="2029968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92424" y="188366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 territory coordinators in Leeds and Glasgow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64408" y="2596896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92424" y="2450592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enterprise account team for large commercial client support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64408" y="3163824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92424" y="301752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dedicated lead managers per territory to improve conversion speed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44768" y="804672"/>
            <a:ext cx="2788920" cy="3749040"/>
          </a:xfrm>
          <a:prstGeom prst="rect">
            <a:avLst/>
          </a:prstGeom>
          <a:solidFill>
            <a:srgbClr val="1A1A1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44768" y="804672"/>
            <a:ext cx="27889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89611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54496" y="1207008"/>
            <a:ext cx="25603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54496" y="1463040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1316736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engineer leaderboard — gamify the commission race, drive healthy competition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54496" y="2029968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2512" y="188366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coaching: pair London/Manchester top performers with Leeds/Glasgow teams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54496" y="2596896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82512" y="2450592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Territory-level micro-targets — one national target is not enough for accountability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54496" y="3163824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2512" y="301752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unofficial resellers — improve legal monitoring and partner verification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54496" y="3730752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2512" y="358444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competitor price analysis active throughout Q2 — insights shared weekly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09728" y="4626864"/>
            <a:ext cx="8924544" cy="402336"/>
          </a:xfrm>
          <a:prstGeom prst="rect">
            <a:avLst/>
          </a:prstGeom>
          <a:solidFill>
            <a:srgbClr val="1A0205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46360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right support, Q2 can deliver £5.8M and activate 90%+ of deployed clients. The engineer base, product portfolio, and new commission policy are in place — execution is the difference.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EC8C2B-C3DA-4483-BA46-77514A88B457}"/>
              </a:ext>
            </a:extLst>
          </p:cNvPr>
          <p:cNvSpPr txBox="1"/>
          <p:nvPr/>
        </p:nvSpPr>
        <p:spPr>
          <a:xfrm>
            <a:off x="2084830" y="1685346"/>
            <a:ext cx="49743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Arial Black" panose="020B0A04020102020204" pitchFamily="34" charset="0"/>
              </a:rPr>
              <a:t>THANK YOU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FCBF33E0-5E6B-4C58-8E72-EA5B50173D53}"/>
              </a:ext>
            </a:extLst>
          </p:cNvPr>
          <p:cNvSpPr/>
          <p:nvPr/>
        </p:nvSpPr>
        <p:spPr>
          <a:xfrm>
            <a:off x="320039" y="2608676"/>
            <a:ext cx="85039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24CABF3B-9070-48ED-AEB1-D633227BAD00}"/>
              </a:ext>
            </a:extLst>
          </p:cNvPr>
          <p:cNvSpPr/>
          <p:nvPr/>
        </p:nvSpPr>
        <p:spPr>
          <a:xfrm>
            <a:off x="274320" y="2479045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your questions, recommendations and feedback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9013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</TotalTime>
  <Words>2609</Words>
  <Application>Microsoft Office PowerPoint</Application>
  <PresentationFormat>On-screen Show (16:9)</PresentationFormat>
  <Paragraphs>400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NovaTech Solutions – Q1 Business Review &amp; Q2 Strategy</dc:title>
  <dc:subject>PptxGenJS Presentation</dc:subject>
  <dc:creator>Joshua.Dalero</dc:creator>
  <cp:lastModifiedBy>Joshua.Eniola</cp:lastModifiedBy>
  <cp:revision>6</cp:revision>
  <dcterms:created xsi:type="dcterms:W3CDTF">2026-05-01T20:51:50Z</dcterms:created>
  <dcterms:modified xsi:type="dcterms:W3CDTF">2026-05-02T12:44:10Z</dcterms:modified>
</cp:coreProperties>
</file>